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38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78" y="17252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0"/>
            <a:ext cx="4647895" cy="6858000"/>
          </a:xfrm>
          <a:prstGeom prst="rect">
            <a:avLst/>
          </a:prstGeom>
          <a:solidFill>
            <a:srgbClr val="17253E"/>
          </a:solidFill>
          <a:ln w="12700">
            <a:solidFill>
              <a:srgbClr val="17253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43800" y="0"/>
            <a:ext cx="118872" cy="6858000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731520"/>
            <a:ext cx="2971800" cy="2971800"/>
          </a:xfrm>
          <a:prstGeom prst="ellipse">
            <a:avLst/>
          </a:prstGeom>
          <a:solidFill>
            <a:srgbClr val="263B58"/>
          </a:solidFill>
          <a:ln w="7620">
            <a:solidFill>
              <a:srgbClr val="263B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96528" y="1161288"/>
            <a:ext cx="2121408" cy="2121408"/>
          </a:xfrm>
          <a:prstGeom prst="ellipse">
            <a:avLst/>
          </a:prstGeom>
          <a:solidFill>
            <a:srgbClr val="0E625F"/>
          </a:solidFill>
          <a:ln w="7620">
            <a:solidFill>
              <a:srgbClr val="0E62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1508760"/>
            <a:ext cx="1426464" cy="142646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420000">
            <a:off x="8595360" y="1828800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E6F1EF"/>
          </a:solidFill>
          <a:ln w="12700">
            <a:solidFill>
              <a:srgbClr val="E6F1E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40000">
            <a:off x="8796528" y="1700784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E7B45B"/>
          </a:solidFill>
          <a:ln w="12700">
            <a:solidFill>
              <a:srgbClr val="E7B45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1773936"/>
            <a:ext cx="2148840" cy="28346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9408" y="2103120"/>
            <a:ext cx="621792" cy="100584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79408" y="2359152"/>
            <a:ext cx="1554480" cy="54864"/>
          </a:xfrm>
          <a:prstGeom prst="rect">
            <a:avLst/>
          </a:prstGeom>
          <a:solidFill>
            <a:srgbClr val="D9DED9"/>
          </a:solidFill>
          <a:ln w="12700">
            <a:solidFill>
              <a:srgbClr val="D9DED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9408" y="2551176"/>
            <a:ext cx="1389888" cy="54864"/>
          </a:xfrm>
          <a:prstGeom prst="rect">
            <a:avLst/>
          </a:prstGeom>
          <a:solidFill>
            <a:srgbClr val="D9DED9"/>
          </a:solidFill>
          <a:ln w="12700">
            <a:solidFill>
              <a:srgbClr val="D9DED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79408" y="2743200"/>
            <a:ext cx="1536192" cy="54864"/>
          </a:xfrm>
          <a:prstGeom prst="rect">
            <a:avLst/>
          </a:prstGeom>
          <a:solidFill>
            <a:srgbClr val="D9DED9"/>
          </a:solidFill>
          <a:ln w="12700">
            <a:solidFill>
              <a:srgbClr val="D9DED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79408" y="3127248"/>
            <a:ext cx="1572768" cy="502920"/>
          </a:xfrm>
          <a:prstGeom prst="roundRect">
            <a:avLst>
              <a:gd name="adj" fmla="val 18182"/>
            </a:avLst>
          </a:prstGeom>
          <a:solidFill>
            <a:srgbClr val="E0F0EC"/>
          </a:solidFill>
          <a:ln w="12700">
            <a:solidFill>
              <a:srgbClr val="E0F0E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3282696"/>
            <a:ext cx="1225296" cy="50292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3438144"/>
            <a:ext cx="960120" cy="50292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79408" y="3867912"/>
            <a:ext cx="1572768" cy="54864"/>
          </a:xfrm>
          <a:prstGeom prst="rect">
            <a:avLst/>
          </a:prstGeom>
          <a:solidFill>
            <a:srgbClr val="D9DED9"/>
          </a:solidFill>
          <a:ln w="12700">
            <a:solidFill>
              <a:srgbClr val="D9DED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79408" y="4059936"/>
            <a:ext cx="1325880" cy="54864"/>
          </a:xfrm>
          <a:prstGeom prst="rect">
            <a:avLst/>
          </a:prstGeom>
          <a:solidFill>
            <a:srgbClr val="D9DED9"/>
          </a:solidFill>
          <a:ln w="12700">
            <a:solidFill>
              <a:srgbClr val="D9DED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4892040"/>
            <a:ext cx="3145536" cy="0"/>
          </a:xfrm>
          <a:prstGeom prst="line">
            <a:avLst/>
          </a:prstGeom>
          <a:noFill/>
          <a:ln w="12700">
            <a:solidFill>
              <a:srgbClr val="5673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3296" y="4818888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56064" y="4818888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28832" y="4818888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5175504"/>
            <a:ext cx="960120" cy="246888"/>
          </a:xfrm>
          <a:prstGeom prst="roundRect">
            <a:avLst>
              <a:gd name="adj" fmla="val 37037"/>
            </a:avLst>
          </a:prstGeom>
          <a:solidFill>
            <a:srgbClr val="F9E6E0"/>
          </a:solidFill>
          <a:ln w="12700">
            <a:solidFill>
              <a:srgbClr val="F9E6E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65008" y="5180076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7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372600" y="5175504"/>
            <a:ext cx="960120" cy="246888"/>
          </a:xfrm>
          <a:prstGeom prst="roundRect">
            <a:avLst>
              <a:gd name="adj" fmla="val 37037"/>
            </a:avLst>
          </a:prstGeom>
          <a:solidFill>
            <a:srgbClr val="FBF0D9"/>
          </a:solidFill>
          <a:ln w="12700">
            <a:solidFill>
              <a:srgbClr val="FBF0D9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36608" y="5180076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744200" y="5175504"/>
            <a:ext cx="960120" cy="246888"/>
          </a:xfrm>
          <a:prstGeom prst="roundRect">
            <a:avLst>
              <a:gd name="adj" fmla="val 37037"/>
            </a:avLst>
          </a:prstGeom>
          <a:solidFill>
            <a:srgbClr val="E0F0EC"/>
          </a:solidFill>
          <a:ln w="12700">
            <a:solidFill>
              <a:srgbClr val="E0F0EC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808208" y="5180076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640080"/>
            <a:ext cx="128016" cy="438912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65836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PROJECT  •  PHASE-1  •  REVIEW-2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1225296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</a:t>
            </a:r>
            <a:endParaRPr lang="en-US" sz="47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1883664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1687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47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" y="2724912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Generative AI–Powered Grant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263B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Writing System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3611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Helping applicants prepare clearer, more organized funding proposals.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713232" y="4251960"/>
            <a:ext cx="6099048" cy="0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44074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8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TEAM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1520" y="4754880"/>
            <a:ext cx="109728" cy="109728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688" y="46908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Mohammed Khaja Moinuddin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32688" y="48920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160923748052</a:t>
            </a:r>
            <a:endParaRPr lang="en-US" sz="1200" b="1" dirty="0"/>
          </a:p>
        </p:txBody>
      </p:sp>
      <p:sp>
        <p:nvSpPr>
          <p:cNvPr id="41" name="Shape 39"/>
          <p:cNvSpPr/>
          <p:nvPr/>
        </p:nvSpPr>
        <p:spPr>
          <a:xfrm>
            <a:off x="3749040" y="4754880"/>
            <a:ext cx="109728" cy="109728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50208" y="46908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Abdur Rahman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950208" y="48920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160923748024</a:t>
            </a:r>
            <a:endParaRPr lang="en-US" sz="1200" b="1" dirty="0"/>
          </a:p>
        </p:txBody>
      </p:sp>
      <p:sp>
        <p:nvSpPr>
          <p:cNvPr id="44" name="Shape 42"/>
          <p:cNvSpPr/>
          <p:nvPr/>
        </p:nvSpPr>
        <p:spPr>
          <a:xfrm>
            <a:off x="731520" y="5193792"/>
            <a:ext cx="109728" cy="109728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2688" y="51297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Shaik Shaizan Moin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32688" y="53309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160923748035</a:t>
            </a:r>
            <a:endParaRPr lang="en-US" sz="1200" b="1" dirty="0"/>
          </a:p>
        </p:txBody>
      </p:sp>
      <p:sp>
        <p:nvSpPr>
          <p:cNvPr id="47" name="Shape 45"/>
          <p:cNvSpPr/>
          <p:nvPr/>
        </p:nvSpPr>
        <p:spPr>
          <a:xfrm>
            <a:off x="3749040" y="5193792"/>
            <a:ext cx="109728" cy="109728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950208" y="51297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D Saad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3950208" y="533095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160923748045</a:t>
            </a:r>
            <a:endParaRPr lang="en-US" sz="1200" b="1" dirty="0"/>
          </a:p>
        </p:txBody>
      </p:sp>
      <p:sp>
        <p:nvSpPr>
          <p:cNvPr id="50" name="Text 48"/>
          <p:cNvSpPr txBox="1"/>
          <p:nvPr/>
        </p:nvSpPr>
        <p:spPr>
          <a:xfrm>
            <a:off x="731520" y="576072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8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399032" y="57332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Mrs. Zaheda Naguru  •  Assistant Professor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6172200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|  CSE (AI &amp; ML)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146536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6D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 of Contents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path through the project concept, research and planned design.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" y="1627632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1792224"/>
            <a:ext cx="384048" cy="384048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18059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17190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201168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 a few lines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" y="2505456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2670048"/>
            <a:ext cx="384048" cy="384048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26837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9304" y="25968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89304" y="288950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grant writing needs support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274" y="3383280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3547872"/>
            <a:ext cx="384048" cy="384048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35615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289304" y="34747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89304" y="37673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functions and flow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" y="4261104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" y="4425696"/>
            <a:ext cx="384048" cy="384048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" y="44394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289304" y="43525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 Survey — I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289304" y="464515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papers 1–5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" y="5138928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5303520"/>
            <a:ext cx="384048" cy="384048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8952" y="53172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289304" y="52303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 Survey — II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289304" y="55229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papers 6–10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63640" y="1627632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9944" y="1792224"/>
            <a:ext cx="384048" cy="384048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9944" y="18059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940296" y="17190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System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940296" y="201168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process and issues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63640" y="2505456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9944" y="2670048"/>
            <a:ext cx="384048" cy="384048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9944" y="26837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940296" y="25968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940296" y="288950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approach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63640" y="3383280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9944" y="3547872"/>
            <a:ext cx="384048" cy="384048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9944" y="35615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940296" y="34747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6940296" y="37673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parts connect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63640" y="4261104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9944" y="4425696"/>
            <a:ext cx="384048" cy="384048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09944" y="44394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940296" y="435254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6940296" y="464515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system components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63640" y="5138928"/>
            <a:ext cx="544068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9944" y="5303520"/>
            <a:ext cx="384048" cy="384048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409944" y="53172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940296" y="52303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6940296" y="55229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AI workflow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21792" y="6144768"/>
            <a:ext cx="11018520" cy="201168"/>
          </a:xfrm>
          <a:prstGeom prst="roundRect">
            <a:avLst>
              <a:gd name="adj" fmla="val 45455"/>
            </a:avLst>
          </a:prstGeom>
          <a:solidFill>
            <a:srgbClr val="E0F0EC"/>
          </a:solidFill>
          <a:ln w="12700">
            <a:solidFill>
              <a:srgbClr val="E0F0EC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86384" y="6144768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slide: Thank You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SUMMARY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aims to make grant proposal preparation easier and more organized.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1600200"/>
            <a:ext cx="2880360" cy="4526280"/>
          </a:xfrm>
          <a:prstGeom prst="roundRect">
            <a:avLst>
              <a:gd name="adj" fmla="val 3175"/>
            </a:avLst>
          </a:prstGeom>
          <a:solidFill>
            <a:srgbClr val="17253E"/>
          </a:solidFill>
          <a:ln w="12700">
            <a:solidFill>
              <a:srgbClr val="1725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1883664"/>
            <a:ext cx="1298448" cy="246888"/>
          </a:xfrm>
          <a:prstGeom prst="roundRect">
            <a:avLst>
              <a:gd name="adj" fmla="val 37037"/>
            </a:avLst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188823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2359152"/>
            <a:ext cx="23317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funds is hard.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Writing proposals takes time.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69649" y="4440533"/>
            <a:ext cx="2258568" cy="0"/>
          </a:xfrm>
          <a:prstGeom prst="line">
            <a:avLst/>
          </a:prstGeom>
          <a:noFill/>
          <a:ln w="12700">
            <a:solidFill>
              <a:srgbClr val="4764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4622291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7F0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brings key steps into one planned workflow.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86200" y="1755648"/>
            <a:ext cx="320040" cy="320040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86200" y="1764792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1664208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742432" y="1655064"/>
            <a:ext cx="5440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users look for funding opportunities that fit their needs.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3886200" y="2478024"/>
            <a:ext cx="728776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86200" y="2834640"/>
            <a:ext cx="320040" cy="320040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2843784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2743200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742432" y="2734056"/>
            <a:ext cx="5440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Generative AI to help prepare proposal sections.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3886200" y="3557016"/>
            <a:ext cx="728776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86200" y="3913632"/>
            <a:ext cx="320040" cy="320040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86200" y="3922776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3822192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5742432" y="3813048"/>
            <a:ext cx="5440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Assists with budgets and supporting documents.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3886200" y="4636008"/>
            <a:ext cx="728776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86200" y="4992624"/>
            <a:ext cx="320040" cy="320040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86200" y="500176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389120" y="49011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5742432" y="4892040"/>
            <a:ext cx="5440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 improvements; the applicant checks the final content.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guided grant-writing process can be useful.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" y="1664208"/>
            <a:ext cx="5358384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1664208"/>
            <a:ext cx="100584" cy="16824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1865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8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18470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Funding matters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99616" y="2267712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Researchers, NGOs and startups need funds to carry out projects.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27064" y="1664208"/>
            <a:ext cx="5358384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1664208"/>
            <a:ext cx="100584" cy="1682496"/>
          </a:xfrm>
          <a:prstGeom prst="rect">
            <a:avLst/>
          </a:prstGeom>
          <a:solidFill>
            <a:srgbClr val="E7B45B"/>
          </a:solidFill>
          <a:ln w="12700">
            <a:solidFill>
              <a:srgbClr val="E7B45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83096" y="1865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B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95744" y="18470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Proposals are detailed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95744" y="2267712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 often ask for goals, methods, impact and budgets.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" y="3602736"/>
            <a:ext cx="5358384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3602736"/>
            <a:ext cx="100584" cy="1682496"/>
          </a:xfrm>
          <a:prstGeom prst="rect">
            <a:avLst/>
          </a:prstGeom>
          <a:solidFill>
            <a:srgbClr val="E77C69"/>
          </a:solidFill>
          <a:ln w="12700">
            <a:solidFill>
              <a:srgbClr val="E77C69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968" y="3803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7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499616" y="37856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work adds effort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499616" y="4206240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Applicants may read long calls and edit several documents by hand.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27064" y="3602736"/>
            <a:ext cx="5358384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27064" y="3602736"/>
            <a:ext cx="100584" cy="1682496"/>
          </a:xfrm>
          <a:prstGeom prst="rect">
            <a:avLst/>
          </a:prstGeom>
          <a:solidFill>
            <a:srgbClr val="756EB0"/>
          </a:solidFill>
          <a:ln w="12700">
            <a:solidFill>
              <a:srgbClr val="756EB0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83096" y="3803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56E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95744" y="37856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can assist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095744" y="4206240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explores AI support while keeping people in control.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0936" y="5715000"/>
            <a:ext cx="10954512" cy="393192"/>
          </a:xfrm>
          <a:prstGeom prst="roundRect">
            <a:avLst>
              <a:gd name="adj" fmla="val 23256"/>
            </a:avLst>
          </a:prstGeom>
          <a:solidFill>
            <a:srgbClr val="FBF0D9"/>
          </a:solidFill>
          <a:ln w="12700">
            <a:solidFill>
              <a:srgbClr val="FBF0D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" y="5742432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855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goal: reduce repetitive work without replacing applicant judgment.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WORKFLOW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planned end-to-end flow from the user’s project idea to proposal tracking.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" y="1947672"/>
            <a:ext cx="2157984" cy="252374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" y="2130552"/>
            <a:ext cx="457200" cy="457200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" y="2139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" y="2779776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details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" y="330098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project idea, domain and applicant profile.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40664" y="4215384"/>
            <a:ext cx="1810512" cy="73152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52344" y="3191256"/>
            <a:ext cx="137160" cy="0"/>
          </a:xfrm>
          <a:prstGeom prst="line">
            <a:avLst/>
          </a:prstGeom>
          <a:noFill/>
          <a:ln w="16510">
            <a:solidFill>
              <a:srgbClr val="1687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2807208" y="311810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98648" y="1947672"/>
            <a:ext cx="2157984" cy="252374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2130552"/>
            <a:ext cx="457200" cy="457200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63240" y="2139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063240" y="2779776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grants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330098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details with funding calls and eligibility.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3063240" y="4215384"/>
            <a:ext cx="1810512" cy="73152"/>
          </a:xfrm>
          <a:prstGeom prst="rect">
            <a:avLst/>
          </a:prstGeom>
          <a:solidFill>
            <a:srgbClr val="E7B45B"/>
          </a:solidFill>
          <a:ln w="12700">
            <a:solidFill>
              <a:srgbClr val="E7B4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3191256"/>
            <a:ext cx="137160" cy="0"/>
          </a:xfrm>
          <a:prstGeom prst="line">
            <a:avLst/>
          </a:prstGeom>
          <a:noFill/>
          <a:ln w="16510">
            <a:solidFill>
              <a:srgbClr val="1687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5129784" y="311810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21224" y="1947672"/>
            <a:ext cx="2157984" cy="252374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85816" y="2130552"/>
            <a:ext cx="457200" cy="457200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85816" y="2139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385816" y="2779776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draft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385816" y="330098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structured proposal sections with AI.</a:t>
            </a:r>
            <a:endParaRPr lang="en-US" sz="1230" dirty="0"/>
          </a:p>
        </p:txBody>
      </p:sp>
      <p:sp>
        <p:nvSpPr>
          <p:cNvPr id="36" name="Shape 34"/>
          <p:cNvSpPr/>
          <p:nvPr/>
        </p:nvSpPr>
        <p:spPr>
          <a:xfrm>
            <a:off x="5385816" y="4215384"/>
            <a:ext cx="1810512" cy="73152"/>
          </a:xfrm>
          <a:prstGeom prst="rect">
            <a:avLst/>
          </a:prstGeom>
          <a:solidFill>
            <a:srgbClr val="E77C69"/>
          </a:solidFill>
          <a:ln w="12700">
            <a:solidFill>
              <a:srgbClr val="E77C69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97496" y="3191256"/>
            <a:ext cx="137160" cy="0"/>
          </a:xfrm>
          <a:prstGeom prst="line">
            <a:avLst/>
          </a:prstGeom>
          <a:noFill/>
          <a:ln w="16510">
            <a:solidFill>
              <a:srgbClr val="16877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7452360" y="311810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3800" y="1947672"/>
            <a:ext cx="2157984" cy="252374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08392" y="2130552"/>
            <a:ext cx="457200" cy="457200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08392" y="2139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708392" y="2779776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&amp; prepare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7708392" y="330098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wording; assist with budgets and documents.</a:t>
            </a:r>
            <a:endParaRPr lang="en-US" sz="1230" dirty="0"/>
          </a:p>
        </p:txBody>
      </p:sp>
      <p:sp>
        <p:nvSpPr>
          <p:cNvPr id="44" name="Shape 42"/>
          <p:cNvSpPr/>
          <p:nvPr/>
        </p:nvSpPr>
        <p:spPr>
          <a:xfrm>
            <a:off x="7708392" y="4215384"/>
            <a:ext cx="1810512" cy="73152"/>
          </a:xfrm>
          <a:prstGeom prst="rect">
            <a:avLst/>
          </a:prstGeom>
          <a:solidFill>
            <a:srgbClr val="756EB0"/>
          </a:solidFill>
          <a:ln w="12700">
            <a:solidFill>
              <a:srgbClr val="756EB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0072" y="3191256"/>
            <a:ext cx="137160" cy="0"/>
          </a:xfrm>
          <a:prstGeom prst="line">
            <a:avLst/>
          </a:prstGeom>
          <a:noFill/>
          <a:ln w="16510">
            <a:solidFill>
              <a:srgbClr val="16877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5400000">
            <a:off x="9774936" y="311810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66376" y="1947672"/>
            <a:ext cx="2157984" cy="252374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30968" y="2130552"/>
            <a:ext cx="457200" cy="457200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30968" y="2139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030968" y="2779776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</a:t>
            </a:r>
            <a:endParaRPr lang="en-US" sz="1700" dirty="0"/>
          </a:p>
        </p:txBody>
      </p:sp>
      <p:sp>
        <p:nvSpPr>
          <p:cNvPr id="51" name="Text 49"/>
          <p:cNvSpPr txBox="1"/>
          <p:nvPr/>
        </p:nvSpPr>
        <p:spPr>
          <a:xfrm>
            <a:off x="10030968" y="330098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deadlines and application status.</a:t>
            </a:r>
            <a:endParaRPr lang="en-US" sz="1230" dirty="0"/>
          </a:p>
        </p:txBody>
      </p:sp>
      <p:sp>
        <p:nvSpPr>
          <p:cNvPr id="52" name="Shape 50"/>
          <p:cNvSpPr/>
          <p:nvPr/>
        </p:nvSpPr>
        <p:spPr>
          <a:xfrm>
            <a:off x="10030968" y="4215384"/>
            <a:ext cx="1810512" cy="73152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" y="4956048"/>
            <a:ext cx="10954512" cy="1024128"/>
          </a:xfrm>
          <a:prstGeom prst="roundRect">
            <a:avLst>
              <a:gd name="adj" fmla="val 8929"/>
            </a:avLst>
          </a:prstGeom>
          <a:solidFill>
            <a:srgbClr val="17253E"/>
          </a:solidFill>
          <a:ln w="12700">
            <a:solidFill>
              <a:srgbClr val="17253E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86968" y="51480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10" dirty="0">
                <a:solidFill>
                  <a:srgbClr val="E7B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2048256" y="5102352"/>
            <a:ext cx="9006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guided place for funding discovery, proposal preparation and follow-up.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2048256" y="5504688"/>
            <a:ext cx="9006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6E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planned workflow; the final tools and models will be confirmed during implementation.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REVIEW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Survey — Papers 1–5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studies explore grant generation, AI-assisted writing and automated proposal review.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1499616"/>
            <a:ext cx="4251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/ YEAR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1499616"/>
            <a:ext cx="5577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/ KEY FINDING / LIMITATION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1792" y="1755648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1938528"/>
            <a:ext cx="338328" cy="338328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1947672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1828800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AI Close the Grant Funding Gap? A Multi-Agent LLM System…</a:t>
            </a:r>
            <a:endParaRPr lang="en-US" sz="122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295144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 •  SSRN preprint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394960" y="1856232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96128" y="1828800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multiple AI agents and RAG to draft applications. The expert evaluation is still limited in size.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21792" y="2606040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0F1EC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2788920"/>
            <a:ext cx="338328" cy="338328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2798064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267919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LLM-assisted proposal writing in competitive R&amp;D funding: Evidence from Horizon Europe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3145536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 •  European Commission JRC working paper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394960" y="2706624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96128" y="2679192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Studies real funding applications. It finds no clear causal proof that AI-assisted writing changes outcomes.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621792" y="3456432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" y="3639312"/>
            <a:ext cx="338328" cy="338328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3648456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3529584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bias against scientific novelty: A cautionary tale from a small-sample evaluation of research proposals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1234440" y="3995928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 •  Scientometrics / Springer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394960" y="3557016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96128" y="3529584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a possible bias against highly novel proposals. Results should be interpreted with care.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621792" y="4306824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0F1EC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" y="4489704"/>
            <a:ext cx="338328" cy="338328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8096" y="4498848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234440" y="4379976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Evaluating LLM-Based Grant Proposal Review via Structured Perturbations</a:t>
            </a:r>
            <a:endParaRPr lang="en-US" sz="1130" dirty="0"/>
          </a:p>
        </p:txBody>
      </p:sp>
      <p:sp>
        <p:nvSpPr>
          <p:cNvPr id="42" name="Text 40"/>
          <p:cNvSpPr txBox="1"/>
          <p:nvPr/>
        </p:nvSpPr>
        <p:spPr>
          <a:xfrm>
            <a:off x="1234440" y="4846320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 •  arXiv preprint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394960" y="4407408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96128" y="4379976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AI review across several quality areas. The study uses only six proposals.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621792" y="5157216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" y="5340096"/>
            <a:ext cx="338328" cy="338328"/>
          </a:xfrm>
          <a:prstGeom prst="ellipse">
            <a:avLst/>
          </a:prstGeom>
          <a:solidFill>
            <a:srgbClr val="263B58"/>
          </a:solidFill>
          <a:ln w="7620">
            <a:solidFill>
              <a:srgbClr val="263B5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8096" y="5349240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234440" y="5230368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Large Language Models Evaluate Grant Proposal Quality? Revisiting the Wennerås and Wold Peer Review Data</a:t>
            </a:r>
            <a:endParaRPr lang="en-US" sz="1080" dirty="0"/>
          </a:p>
        </p:txBody>
      </p:sp>
      <p:sp>
        <p:nvSpPr>
          <p:cNvPr id="49" name="Text 47"/>
          <p:cNvSpPr txBox="1"/>
          <p:nvPr/>
        </p:nvSpPr>
        <p:spPr>
          <a:xfrm>
            <a:off x="1234440" y="5696712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 •  Journal of Data and Information Science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5394960" y="5257800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96128" y="5230368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scores showed weak alignment with expert scores in a limited, older proposal dataset.</a:t>
            </a:r>
            <a:endParaRPr lang="en-US" sz="116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61173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checked: SSRN; European Commission JRC; Springer; arXiv:2603.08281; Journal of Data and Information Science.</a:t>
            </a:r>
            <a:endParaRPr lang="en-US" sz="8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REVIEW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Survey — Papers 6–10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papers discuss AI writing, opportunity screening, scientific creativity and responsible use.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1499616"/>
            <a:ext cx="4251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/ YEAR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1499616"/>
            <a:ext cx="5577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/ KEY FINDING / LIMITATION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1792" y="1755648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1938528"/>
            <a:ext cx="338328" cy="338328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1947672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1828800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Assessing ChatGPT’s Potential as an Autonomous Grant Writing Tool: A Pilot Study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295144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 •  Innovative Surgical Trends / Springer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394960" y="1856232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96128" y="1828800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produced clear writing, but reviewers raised concerns about the proposal’s feasibility.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21792" y="2606040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0F1EC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2788920"/>
            <a:ext cx="338328" cy="338328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2798064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267919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Text to Decision: A GenAI Framework for Strategic Evaluation of Funding Opportunities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3145536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 •  SN Computer Science / Springer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394960" y="2706624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96128" y="2679192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semantic embeddings to screen funding calls; it does not generate the full proposal.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621792" y="3456432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" y="3639312"/>
            <a:ext cx="338328" cy="338328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3648456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234440" y="3529584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ChatGPT Writes Your Research Proposal: Scientific Creativity in the Age of Generative AI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1234440" y="3995928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 •  Journal of Intelligence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394960" y="3557016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96128" y="3529584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scored well on a controlled idea-writing task. This does not prove real grant success.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621792" y="4306824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0F1EC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" y="4489704"/>
            <a:ext cx="338328" cy="338328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8096" y="4498848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234440" y="4379976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Simple Rules to Leverage Large Language Models for Getting Grants</a:t>
            </a:r>
            <a:endParaRPr lang="en-US" sz="1130" dirty="0"/>
          </a:p>
        </p:txBody>
      </p:sp>
      <p:sp>
        <p:nvSpPr>
          <p:cNvPr id="42" name="Text 40"/>
          <p:cNvSpPr txBox="1"/>
          <p:nvPr/>
        </p:nvSpPr>
        <p:spPr>
          <a:xfrm>
            <a:off x="1234440" y="4846320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 •  PLOS Computational Biology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394960" y="4407408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96128" y="4379976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Gives practical guidance and stresses fact-checking, privacy and human control.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621792" y="5157216"/>
            <a:ext cx="10954512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" y="5340096"/>
            <a:ext cx="338328" cy="338328"/>
          </a:xfrm>
          <a:prstGeom prst="ellipse">
            <a:avLst/>
          </a:prstGeom>
          <a:solidFill>
            <a:srgbClr val="263B58"/>
          </a:solidFill>
          <a:ln w="7620">
            <a:solidFill>
              <a:srgbClr val="263B5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8096" y="5349240"/>
            <a:ext cx="338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234440" y="5230368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 and Large Language Models in Academia: Opportunities and Challenges</a:t>
            </a:r>
            <a:endParaRPr lang="en-US" sz="1130" dirty="0"/>
          </a:p>
        </p:txBody>
      </p:sp>
      <p:sp>
        <p:nvSpPr>
          <p:cNvPr id="49" name="Text 47"/>
          <p:cNvSpPr txBox="1"/>
          <p:nvPr/>
        </p:nvSpPr>
        <p:spPr>
          <a:xfrm>
            <a:off x="1234440" y="5696712"/>
            <a:ext cx="4087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 •  BioData Mining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5394960" y="5257800"/>
            <a:ext cx="0" cy="557784"/>
          </a:xfrm>
          <a:prstGeom prst="line">
            <a:avLst/>
          </a:prstGeom>
          <a:noFill/>
          <a:ln w="12700">
            <a:solidFill>
              <a:srgbClr val="D9DED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96128" y="5230368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Discusses broad academic uses and risks; it is not a grant-specific system test.</a:t>
            </a:r>
            <a:endParaRPr lang="en-US" sz="116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61173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i="1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checked: Springer; Journal of Intelligence; PLOS Computational Biology; BioData Mining.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ANALYSIS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System &amp; Disadvantages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grant preparation is often spread across separate websites and tools.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1664208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1664208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17253E"/>
          </a:solidFill>
          <a:ln w="12700">
            <a:solidFill>
              <a:srgbClr val="17253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1810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SYSTEM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2615184"/>
            <a:ext cx="320040" cy="320040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262432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searching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298094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Applicants look through several funding websites and long guidelines.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14400" y="3666744"/>
            <a:ext cx="4709160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032504"/>
            <a:ext cx="320040" cy="320040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04164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005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preparation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39826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Proposals, budgets and supporting files are often made in different tools.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199632" y="1664208"/>
            <a:ext cx="5376672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664208"/>
            <a:ext cx="5376672" cy="594360"/>
          </a:xfrm>
          <a:prstGeom prst="roundRect">
            <a:avLst>
              <a:gd name="adj" fmla="val 15385"/>
            </a:avLst>
          </a:prstGeom>
          <a:solidFill>
            <a:srgbClr val="E77C69"/>
          </a:solidFill>
          <a:ln w="12700">
            <a:solidFill>
              <a:srgbClr val="E77C69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1810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92240" y="2505456"/>
            <a:ext cx="292608" cy="292608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25100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24688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and effort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277977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work can slow down the application process.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6492240" y="3593592"/>
            <a:ext cx="292608" cy="292608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35981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35570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and missed chances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8679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mistakes or inconsistent documents may weaken an application.</a:t>
            </a:r>
            <a:endParaRPr lang="en-US" sz="1230" dirty="0"/>
          </a:p>
        </p:txBody>
      </p:sp>
      <p:sp>
        <p:nvSpPr>
          <p:cNvPr id="38" name="Shape 36"/>
          <p:cNvSpPr/>
          <p:nvPr/>
        </p:nvSpPr>
        <p:spPr>
          <a:xfrm>
            <a:off x="6492240" y="4681728"/>
            <a:ext cx="292608" cy="292608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0" y="46863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46451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track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949440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Deadlines and submission status may be difficult to manage.</a:t>
            </a:r>
            <a:endParaRPr lang="en-US" sz="12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System &amp; Advantages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plans to connect the main grant-writing tasks in one platform.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1664208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1664208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0E625F"/>
          </a:solidFill>
          <a:ln w="12700">
            <a:solidFill>
              <a:srgbClr val="0E625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1810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2615184"/>
            <a:ext cx="320040" cy="320040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262432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guided workflow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298094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funding discovery, proposal drafting and follow-up together.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14400" y="3666744"/>
            <a:ext cx="4709160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032504"/>
            <a:ext cx="320040" cy="320040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04164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005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preparation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39826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draft proposal sections and prepare budget and document outlines.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199632" y="1664208"/>
            <a:ext cx="5376672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664208"/>
            <a:ext cx="5376672" cy="594360"/>
          </a:xfrm>
          <a:prstGeom prst="roundRect">
            <a:avLst>
              <a:gd name="adj" fmla="val 15385"/>
            </a:avLst>
          </a:prstGeom>
          <a:solidFill>
            <a:srgbClr val="E7B45B"/>
          </a:solidFill>
          <a:ln w="12700">
            <a:solidFill>
              <a:srgbClr val="E7B45B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1810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ADVANTAGES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92240" y="2505456"/>
            <a:ext cx="292608" cy="292608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25100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24688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repetitive work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277977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effort spent on repeated drafting and document preparation.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6492240" y="3593592"/>
            <a:ext cx="292608" cy="292608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35981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35570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organization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8679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grants to user needs and keep information in a clear structure.</a:t>
            </a:r>
            <a:endParaRPr lang="en-US" sz="1230" dirty="0"/>
          </a:p>
        </p:txBody>
      </p:sp>
      <p:sp>
        <p:nvSpPr>
          <p:cNvPr id="38" name="Shape 36"/>
          <p:cNvSpPr/>
          <p:nvPr/>
        </p:nvSpPr>
        <p:spPr>
          <a:xfrm>
            <a:off x="6492240" y="4681728"/>
            <a:ext cx="292608" cy="292608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0" y="46863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46451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stays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949440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Applicants check facts, budgets and rules before final submission.</a:t>
            </a:r>
            <a:endParaRPr lang="en-US" sz="1230" dirty="0"/>
          </a:p>
        </p:txBody>
      </p:sp>
      <p:sp>
        <p:nvSpPr>
          <p:cNvPr id="42" name="Text 40"/>
          <p:cNvSpPr txBox="1"/>
          <p:nvPr/>
        </p:nvSpPr>
        <p:spPr>
          <a:xfrm>
            <a:off x="749808" y="614476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These are intended benefits; improved funding success has not yet been measured.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design based on the architecture diagram in your project document.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1591056"/>
            <a:ext cx="7132320" cy="557784"/>
          </a:xfrm>
          <a:prstGeom prst="roundRect">
            <a:avLst>
              <a:gd name="adj" fmla="val 16393"/>
            </a:avLst>
          </a:prstGeom>
          <a:solidFill>
            <a:srgbClr val="17253E"/>
          </a:solidFill>
          <a:ln w="12700">
            <a:solidFill>
              <a:srgbClr val="1725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1709928"/>
            <a:ext cx="310896" cy="310896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1714500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16733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160" dirty="0"/>
          </a:p>
        </p:txBody>
      </p:sp>
      <p:sp>
        <p:nvSpPr>
          <p:cNvPr id="19" name="Text 17"/>
          <p:cNvSpPr txBox="1"/>
          <p:nvPr/>
        </p:nvSpPr>
        <p:spPr>
          <a:xfrm>
            <a:off x="3813048" y="168249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Researchers • NGOs • Startups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224528" y="2148840"/>
            <a:ext cx="0" cy="100584"/>
          </a:xfrm>
          <a:prstGeom prst="line">
            <a:avLst/>
          </a:prstGeom>
          <a:noFill/>
          <a:ln w="15240">
            <a:solidFill>
              <a:srgbClr val="1687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4169664" y="2176272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286000"/>
            <a:ext cx="7132320" cy="557784"/>
          </a:xfrm>
          <a:prstGeom prst="roundRect">
            <a:avLst>
              <a:gd name="adj" fmla="val 16393"/>
            </a:avLst>
          </a:prstGeom>
          <a:solidFill>
            <a:srgbClr val="16877F"/>
          </a:solidFill>
          <a:ln w="12700">
            <a:solidFill>
              <a:srgbClr val="1687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2404872"/>
            <a:ext cx="310896" cy="310896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2409444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2368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INTERFACE</a:t>
            </a:r>
            <a:endParaRPr lang="en-US" sz="1160" dirty="0"/>
          </a:p>
        </p:txBody>
      </p:sp>
      <p:sp>
        <p:nvSpPr>
          <p:cNvPr id="26" name="Text 24"/>
          <p:cNvSpPr txBox="1"/>
          <p:nvPr/>
        </p:nvSpPr>
        <p:spPr>
          <a:xfrm>
            <a:off x="3813048" y="23774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enters details and views results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224528" y="2843784"/>
            <a:ext cx="0" cy="100584"/>
          </a:xfrm>
          <a:prstGeom prst="line">
            <a:avLst/>
          </a:prstGeom>
          <a:noFill/>
          <a:ln w="15240">
            <a:solidFill>
              <a:srgbClr val="1687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4169664" y="2871216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2980944"/>
            <a:ext cx="7132320" cy="557784"/>
          </a:xfrm>
          <a:prstGeom prst="roundRect">
            <a:avLst>
              <a:gd name="adj" fmla="val 16393"/>
            </a:avLst>
          </a:prstGeom>
          <a:solidFill>
            <a:srgbClr val="263B58"/>
          </a:solidFill>
          <a:ln w="12700">
            <a:solidFill>
              <a:srgbClr val="263B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3099816"/>
            <a:ext cx="310896" cy="310896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310438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261872" y="30632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LAYER</a:t>
            </a:r>
            <a:endParaRPr lang="en-US" sz="1160" dirty="0"/>
          </a:p>
        </p:txBody>
      </p:sp>
      <p:sp>
        <p:nvSpPr>
          <p:cNvPr id="33" name="Text 31"/>
          <p:cNvSpPr txBox="1"/>
          <p:nvPr/>
        </p:nvSpPr>
        <p:spPr>
          <a:xfrm>
            <a:off x="3813048" y="307238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requests and connects modules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224528" y="3538728"/>
            <a:ext cx="0" cy="100584"/>
          </a:xfrm>
          <a:prstGeom prst="line">
            <a:avLst/>
          </a:prstGeom>
          <a:noFill/>
          <a:ln w="15240">
            <a:solidFill>
              <a:srgbClr val="16877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0800000">
            <a:off x="4169664" y="3566160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3675888"/>
            <a:ext cx="7132320" cy="557784"/>
          </a:xfrm>
          <a:prstGeom prst="roundRect">
            <a:avLst>
              <a:gd name="adj" fmla="val 16393"/>
            </a:avLst>
          </a:prstGeom>
          <a:solidFill>
            <a:srgbClr val="E7B45B"/>
          </a:solidFill>
          <a:ln w="12700">
            <a:solidFill>
              <a:srgbClr val="E7B4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3794760"/>
            <a:ext cx="310896" cy="310896"/>
          </a:xfrm>
          <a:prstGeom prst="ellipse">
            <a:avLst/>
          </a:prstGeom>
          <a:solidFill>
            <a:srgbClr val="0E625F"/>
          </a:solidFill>
          <a:ln w="7620">
            <a:solidFill>
              <a:srgbClr val="0E62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" y="3799332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261872" y="37581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3D2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MODULES</a:t>
            </a:r>
            <a:endParaRPr lang="en-US" sz="1160" dirty="0"/>
          </a:p>
        </p:txBody>
      </p:sp>
      <p:sp>
        <p:nvSpPr>
          <p:cNvPr id="40" name="Text 38"/>
          <p:cNvSpPr txBox="1"/>
          <p:nvPr/>
        </p:nvSpPr>
        <p:spPr>
          <a:xfrm>
            <a:off x="3813048" y="376732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3D2A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• Proposals • Budgets • Documents • Tracking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4224528" y="4233672"/>
            <a:ext cx="0" cy="100584"/>
          </a:xfrm>
          <a:prstGeom prst="line">
            <a:avLst/>
          </a:prstGeom>
          <a:noFill/>
          <a:ln w="15240">
            <a:solidFill>
              <a:srgbClr val="16877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0800000">
            <a:off x="4169664" y="426110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" y="4370832"/>
            <a:ext cx="7132320" cy="557784"/>
          </a:xfrm>
          <a:prstGeom prst="roundRect">
            <a:avLst>
              <a:gd name="adj" fmla="val 16393"/>
            </a:avLst>
          </a:prstGeom>
          <a:solidFill>
            <a:srgbClr val="E0F0EC"/>
          </a:solidFill>
          <a:ln w="12700">
            <a:solidFill>
              <a:srgbClr val="E0F0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" y="4489704"/>
            <a:ext cx="310896" cy="310896"/>
          </a:xfrm>
          <a:prstGeom prst="ellipse">
            <a:avLst/>
          </a:prstGeom>
          <a:solidFill>
            <a:srgbClr val="0E625F"/>
          </a:solidFill>
          <a:ln w="7620">
            <a:solidFill>
              <a:srgbClr val="0E625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" y="4494276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261872" y="4453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SERVICES + DATA</a:t>
            </a:r>
            <a:endParaRPr lang="en-US" sz="1160" dirty="0"/>
          </a:p>
        </p:txBody>
      </p:sp>
      <p:sp>
        <p:nvSpPr>
          <p:cNvPr id="47" name="Text 45"/>
          <p:cNvSpPr txBox="1"/>
          <p:nvPr/>
        </p:nvSpPr>
        <p:spPr>
          <a:xfrm>
            <a:off x="3813048" y="44622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• Retrieval • Matching • Stored project data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4224528" y="4928616"/>
            <a:ext cx="0" cy="100584"/>
          </a:xfrm>
          <a:prstGeom prst="line">
            <a:avLst/>
          </a:prstGeom>
          <a:noFill/>
          <a:ln w="15240">
            <a:solidFill>
              <a:srgbClr val="16877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0800000">
            <a:off x="4169664" y="4956048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368" y="5065776"/>
            <a:ext cx="7132320" cy="557784"/>
          </a:xfrm>
          <a:prstGeom prst="roundRect">
            <a:avLst>
              <a:gd name="adj" fmla="val 16393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4672" y="5184648"/>
            <a:ext cx="310896" cy="310896"/>
          </a:xfrm>
          <a:prstGeom prst="ellipse">
            <a:avLst/>
          </a:prstGeom>
          <a:solidFill>
            <a:srgbClr val="0E625F"/>
          </a:solidFill>
          <a:ln w="7620">
            <a:solidFill>
              <a:srgbClr val="0E625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4672" y="5189220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261872" y="5148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FUNDING SOURCES</a:t>
            </a:r>
            <a:endParaRPr lang="en-US" sz="1160" dirty="0"/>
          </a:p>
        </p:txBody>
      </p:sp>
      <p:sp>
        <p:nvSpPr>
          <p:cNvPr id="54" name="Text 52"/>
          <p:cNvSpPr txBox="1"/>
          <p:nvPr/>
        </p:nvSpPr>
        <p:spPr>
          <a:xfrm>
            <a:off x="3813048" y="515721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databases and funding organization websites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8119872" y="1691640"/>
            <a:ext cx="342900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4192" y="1947672"/>
            <a:ext cx="1554480" cy="246888"/>
          </a:xfrm>
          <a:prstGeom prst="roundRect">
            <a:avLst>
              <a:gd name="adj" fmla="val 37037"/>
            </a:avLst>
          </a:prstGeom>
          <a:solidFill>
            <a:srgbClr val="FBF0D9"/>
          </a:solidFill>
          <a:ln w="12700">
            <a:solidFill>
              <a:srgbClr val="FBF0D9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458200" y="195224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25B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STAGE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8394192" y="2404872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choices are not final yet.</a:t>
            </a:r>
            <a:endParaRPr lang="en-US" sz="1700" dirty="0"/>
          </a:p>
        </p:txBody>
      </p:sp>
      <p:sp>
        <p:nvSpPr>
          <p:cNvPr id="59" name="Text 57"/>
          <p:cNvSpPr txBox="1"/>
          <p:nvPr/>
        </p:nvSpPr>
        <p:spPr>
          <a:xfrm>
            <a:off x="8394192" y="3072384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diagram shows the intended structure, not a completed implementation.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119872" y="3858768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E0F0EC"/>
          </a:solidFill>
          <a:ln w="12700">
            <a:solidFill>
              <a:srgbClr val="E0F0E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94192" y="40965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FLOWS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394192" y="4471416"/>
            <a:ext cx="27614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input → modules → AI support → stored results and grant information.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COMPONENTS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Modules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planned modules are grouped below to keep the slide clear and easy to explain.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" y="1874520"/>
            <a:ext cx="2167128" cy="3310128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1874520"/>
            <a:ext cx="2167128" cy="118872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185416"/>
            <a:ext cx="484632" cy="484632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199132"/>
            <a:ext cx="48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290779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Management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3685032"/>
            <a:ext cx="1801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registration, login and user profiles.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" y="4800600"/>
            <a:ext cx="1783080" cy="73152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7792" y="1874520"/>
            <a:ext cx="2167128" cy="3310128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7792" y="1874520"/>
            <a:ext cx="2167128" cy="118872"/>
          </a:xfrm>
          <a:prstGeom prst="rect">
            <a:avLst/>
          </a:prstGeom>
          <a:solidFill>
            <a:srgbClr val="E7B45B"/>
          </a:solidFill>
          <a:ln w="12700">
            <a:solidFill>
              <a:srgbClr val="E7B45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0672" y="2185416"/>
            <a:ext cx="484632" cy="484632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90672" y="2199132"/>
            <a:ext cx="48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090672" y="290779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Funding Discovery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3090672" y="3685032"/>
            <a:ext cx="1801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grants that may match user needs and eligibility.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090672" y="4800600"/>
            <a:ext cx="1783080" cy="73152"/>
          </a:xfrm>
          <a:prstGeom prst="rect">
            <a:avLst/>
          </a:prstGeom>
          <a:solidFill>
            <a:srgbClr val="E7B45B"/>
          </a:solidFill>
          <a:ln w="12700">
            <a:solidFill>
              <a:srgbClr val="E7B4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0368" y="1874520"/>
            <a:ext cx="2167128" cy="3310128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30368" y="1874520"/>
            <a:ext cx="2167128" cy="118872"/>
          </a:xfrm>
          <a:prstGeom prst="rect">
            <a:avLst/>
          </a:prstGeom>
          <a:solidFill>
            <a:srgbClr val="E77C69"/>
          </a:solidFill>
          <a:ln w="12700">
            <a:solidFill>
              <a:srgbClr val="E77C69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3248" y="2185416"/>
            <a:ext cx="484632" cy="484632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13248" y="2199132"/>
            <a:ext cx="48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13248" y="290779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Generation</a:t>
            </a:r>
            <a:endParaRPr lang="en-US" sz="1650" dirty="0"/>
          </a:p>
        </p:txBody>
      </p:sp>
      <p:sp>
        <p:nvSpPr>
          <p:cNvPr id="34" name="Text 32"/>
          <p:cNvSpPr txBox="1"/>
          <p:nvPr/>
        </p:nvSpPr>
        <p:spPr>
          <a:xfrm>
            <a:off x="5413248" y="3685032"/>
            <a:ext cx="1801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Prepares structured proposal sections using AI.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13248" y="4800600"/>
            <a:ext cx="1783080" cy="73152"/>
          </a:xfrm>
          <a:prstGeom prst="rect">
            <a:avLst/>
          </a:prstGeom>
          <a:solidFill>
            <a:srgbClr val="E77C69"/>
          </a:solidFill>
          <a:ln w="12700">
            <a:solidFill>
              <a:srgbClr val="E77C69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52944" y="1874520"/>
            <a:ext cx="2167128" cy="3310128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52944" y="1874520"/>
            <a:ext cx="2167128" cy="118872"/>
          </a:xfrm>
          <a:prstGeom prst="rect">
            <a:avLst/>
          </a:prstGeom>
          <a:solidFill>
            <a:srgbClr val="756EB0"/>
          </a:solidFill>
          <a:ln w="12700">
            <a:solidFill>
              <a:srgbClr val="756EB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35824" y="2185416"/>
            <a:ext cx="484632" cy="484632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35824" y="2199132"/>
            <a:ext cx="48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735824" y="290779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Budget + Documents</a:t>
            </a:r>
            <a:endParaRPr lang="en-US" sz="1650" dirty="0"/>
          </a:p>
        </p:txBody>
      </p:sp>
      <p:sp>
        <p:nvSpPr>
          <p:cNvPr id="41" name="Text 39"/>
          <p:cNvSpPr txBox="1"/>
          <p:nvPr/>
        </p:nvSpPr>
        <p:spPr>
          <a:xfrm>
            <a:off x="7735824" y="3685032"/>
            <a:ext cx="1801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Assists with project budgets and supporting files.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735824" y="4800600"/>
            <a:ext cx="1783080" cy="73152"/>
          </a:xfrm>
          <a:prstGeom prst="rect">
            <a:avLst/>
          </a:prstGeom>
          <a:solidFill>
            <a:srgbClr val="756EB0"/>
          </a:solidFill>
          <a:ln w="12700">
            <a:solidFill>
              <a:srgbClr val="756EB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75520" y="1874520"/>
            <a:ext cx="2167128" cy="3310128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75520" y="1874520"/>
            <a:ext cx="2167128" cy="118872"/>
          </a:xfrm>
          <a:prstGeom prst="rect">
            <a:avLst/>
          </a:prstGeom>
          <a:solidFill>
            <a:srgbClr val="263B58"/>
          </a:solidFill>
          <a:ln w="12700">
            <a:solidFill>
              <a:srgbClr val="263B5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58400" y="2185416"/>
            <a:ext cx="484632" cy="484632"/>
          </a:xfrm>
          <a:prstGeom prst="ellipse">
            <a:avLst/>
          </a:prstGeom>
          <a:solidFill>
            <a:srgbClr val="263B58"/>
          </a:solidFill>
          <a:ln w="7620">
            <a:solidFill>
              <a:srgbClr val="263B5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58400" y="2199132"/>
            <a:ext cx="484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058400" y="290779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Enhancement + Tracking</a:t>
            </a:r>
            <a:endParaRPr lang="en-US" sz="1650" dirty="0"/>
          </a:p>
        </p:txBody>
      </p:sp>
      <p:sp>
        <p:nvSpPr>
          <p:cNvPr id="48" name="Text 46"/>
          <p:cNvSpPr txBox="1"/>
          <p:nvPr/>
        </p:nvSpPr>
        <p:spPr>
          <a:xfrm>
            <a:off x="10058400" y="3685032"/>
            <a:ext cx="1801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 edits and helps organize deadlines and status.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0058400" y="4800600"/>
            <a:ext cx="1783080" cy="73152"/>
          </a:xfrm>
          <a:prstGeom prst="rect">
            <a:avLst/>
          </a:prstGeom>
          <a:solidFill>
            <a:srgbClr val="263B58"/>
          </a:solidFill>
          <a:ln w="12700">
            <a:solidFill>
              <a:srgbClr val="263B5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" y="5513832"/>
            <a:ext cx="10954512" cy="502920"/>
          </a:xfrm>
          <a:prstGeom prst="roundRect">
            <a:avLst>
              <a:gd name="adj" fmla="val 18182"/>
            </a:avLst>
          </a:prstGeom>
          <a:solidFill>
            <a:srgbClr val="17253E"/>
          </a:solidFill>
          <a:ln w="12700">
            <a:solidFill>
              <a:srgbClr val="17253E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96112" y="5605272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five groups cover the seven modules described in the project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0"/>
            <a:ext cx="962863" cy="82296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320040"/>
            <a:ext cx="146304" cy="14630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68328" y="320040"/>
            <a:ext cx="146304" cy="14630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87784" y="320040"/>
            <a:ext cx="146304" cy="14630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47472"/>
            <a:ext cx="109728" cy="24688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291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REVIEW-2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329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AI WORKFLOW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04088"/>
            <a:ext cx="11064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5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19786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models and algorithms will be finalized during implementation.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6473952"/>
            <a:ext cx="11128248" cy="0"/>
          </a:xfrm>
          <a:prstGeom prst="line">
            <a:avLst/>
          </a:prstGeom>
          <a:noFill/>
          <a:ln w="1016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528816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77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1828800"/>
            <a:ext cx="2157984" cy="26974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2011680"/>
            <a:ext cx="420624" cy="420624"/>
          </a:xfrm>
          <a:prstGeom prst="ellipse">
            <a:avLst/>
          </a:prstGeom>
          <a:solidFill>
            <a:srgbClr val="16877F"/>
          </a:solidFill>
          <a:ln w="7620">
            <a:solidFill>
              <a:srgbClr val="1687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20208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26243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Matching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3200400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project details with grant needs and eligibility.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2761488" y="2871216"/>
            <a:ext cx="137160" cy="0"/>
          </a:xfrm>
          <a:prstGeom prst="line">
            <a:avLst/>
          </a:prstGeom>
          <a:noFill/>
          <a:ln w="15875">
            <a:solidFill>
              <a:srgbClr val="1687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2825496" y="279806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6936" y="1828800"/>
            <a:ext cx="2157984" cy="26974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81528" y="2011680"/>
            <a:ext cx="420624" cy="420624"/>
          </a:xfrm>
          <a:prstGeom prst="ellipse">
            <a:avLst/>
          </a:prstGeom>
          <a:solidFill>
            <a:srgbClr val="E7B45B"/>
          </a:solidFill>
          <a:ln w="7620">
            <a:solidFill>
              <a:srgbClr val="E7B4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81528" y="20208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081528" y="26243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Retrieval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081528" y="3200400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useful funding rules and trusted reference text.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5084064" y="2871216"/>
            <a:ext cx="137160" cy="0"/>
          </a:xfrm>
          <a:prstGeom prst="line">
            <a:avLst/>
          </a:prstGeom>
          <a:noFill/>
          <a:ln w="15875">
            <a:solidFill>
              <a:srgbClr val="1687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5148072" y="279806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9512" y="1828800"/>
            <a:ext cx="2157984" cy="26974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04104" y="2011680"/>
            <a:ext cx="420624" cy="420624"/>
          </a:xfrm>
          <a:prstGeom prst="ellipse">
            <a:avLst/>
          </a:prstGeom>
          <a:solidFill>
            <a:srgbClr val="E77C69"/>
          </a:solidFill>
          <a:ln w="7620">
            <a:solidFill>
              <a:srgbClr val="E77C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04104" y="20208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04104" y="26243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Drafting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404104" y="3200400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proposal sections from the user’s information.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7406640" y="2871216"/>
            <a:ext cx="137160" cy="0"/>
          </a:xfrm>
          <a:prstGeom prst="line">
            <a:avLst/>
          </a:prstGeom>
          <a:noFill/>
          <a:ln w="15875">
            <a:solidFill>
              <a:srgbClr val="16877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7470648" y="279806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2088" y="1828800"/>
            <a:ext cx="2157984" cy="26974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6680" y="2011680"/>
            <a:ext cx="420624" cy="420624"/>
          </a:xfrm>
          <a:prstGeom prst="ellipse">
            <a:avLst/>
          </a:prstGeom>
          <a:solidFill>
            <a:srgbClr val="756EB0"/>
          </a:solidFill>
          <a:ln w="7620">
            <a:solidFill>
              <a:srgbClr val="756EB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26680" y="20208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726680" y="26243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Review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3200400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clarity, completeness and fit with the rules.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9729216" y="2871216"/>
            <a:ext cx="137160" cy="0"/>
          </a:xfrm>
          <a:prstGeom prst="line">
            <a:avLst/>
          </a:prstGeom>
          <a:noFill/>
          <a:ln w="15875">
            <a:solidFill>
              <a:srgbClr val="16877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9793224" y="2798064"/>
            <a:ext cx="109728" cy="91440"/>
          </a:xfrm>
          <a:prstGeom prst="triangle">
            <a:avLst/>
          </a:prstGeom>
          <a:solidFill>
            <a:srgbClr val="16877F"/>
          </a:solidFill>
          <a:ln w="6350">
            <a:solidFill>
              <a:srgbClr val="16877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84664" y="1828800"/>
            <a:ext cx="2157984" cy="26974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49256" y="2011680"/>
            <a:ext cx="420624" cy="420624"/>
          </a:xfrm>
          <a:prstGeom prst="ellipse">
            <a:avLst/>
          </a:prstGeom>
          <a:solidFill>
            <a:srgbClr val="263B58"/>
          </a:solidFill>
          <a:ln w="7620">
            <a:solidFill>
              <a:srgbClr val="263B5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49256" y="20208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049256" y="26243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049256" y="3200400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263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applicant verifies details and decides what to submit.</a:t>
            </a:r>
            <a:endParaRPr lang="en-US" sz="1230" dirty="0"/>
          </a:p>
        </p:txBody>
      </p:sp>
      <p:sp>
        <p:nvSpPr>
          <p:cNvPr id="48" name="Shape 46"/>
          <p:cNvSpPr/>
          <p:nvPr/>
        </p:nvSpPr>
        <p:spPr>
          <a:xfrm>
            <a:off x="621792" y="4956048"/>
            <a:ext cx="10954512" cy="1024128"/>
          </a:xfrm>
          <a:prstGeom prst="roundRect">
            <a:avLst>
              <a:gd name="adj" fmla="val 8929"/>
            </a:avLst>
          </a:prstGeom>
          <a:solidFill>
            <a:srgbClr val="FBF0D9"/>
          </a:solidFill>
          <a:ln w="12700">
            <a:solidFill>
              <a:srgbClr val="FBF0D9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6112" y="51389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10" dirty="0">
                <a:solidFill>
                  <a:srgbClr val="8359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2048256" y="5084064"/>
            <a:ext cx="9006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5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planned workflow steps, not confirmed algorithm implementations.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2048256" y="547725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855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is needed for facts, budgets, originality and final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E"/>
          </a:solidFill>
          <a:ln w="12700">
            <a:solidFill>
              <a:srgbClr val="17253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40080"/>
            <a:ext cx="118872" cy="393192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658368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A7DC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GRANTFORGE  /  MAJOR PROJECT — REVIEW-2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028432" y="621792"/>
            <a:ext cx="3493008" cy="3493008"/>
          </a:xfrm>
          <a:prstGeom prst="ellipse">
            <a:avLst/>
          </a:prstGeom>
          <a:solidFill>
            <a:srgbClr val="263B58"/>
          </a:solidFill>
          <a:ln w="7620">
            <a:solidFill>
              <a:srgbClr val="263B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1234440"/>
            <a:ext cx="2267712" cy="2267712"/>
          </a:xfrm>
          <a:prstGeom prst="ellipse">
            <a:avLst/>
          </a:prstGeom>
          <a:solidFill>
            <a:srgbClr val="0E625F"/>
          </a:solidFill>
          <a:ln w="7620">
            <a:solidFill>
              <a:srgbClr val="0E62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300000">
            <a:off x="8476488" y="1444752"/>
            <a:ext cx="2039112" cy="283464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1810512"/>
            <a:ext cx="987552" cy="109728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14816" y="2112264"/>
            <a:ext cx="1353312" cy="54864"/>
          </a:xfrm>
          <a:prstGeom prst="rect">
            <a:avLst/>
          </a:prstGeom>
          <a:solidFill>
            <a:srgbClr val="D9DED9"/>
          </a:solidFill>
          <a:ln w="12700">
            <a:solidFill>
              <a:srgbClr val="D9DED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14816" y="2304288"/>
            <a:ext cx="1188720" cy="54864"/>
          </a:xfrm>
          <a:prstGeom prst="rect">
            <a:avLst/>
          </a:prstGeom>
          <a:solidFill>
            <a:srgbClr val="D9DED9"/>
          </a:solidFill>
          <a:ln w="12700">
            <a:solidFill>
              <a:srgbClr val="D9DED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14816" y="2496312"/>
            <a:ext cx="1325880" cy="54864"/>
          </a:xfrm>
          <a:prstGeom prst="rect">
            <a:avLst/>
          </a:prstGeom>
          <a:solidFill>
            <a:srgbClr val="D9DED9"/>
          </a:solidFill>
          <a:ln w="12700">
            <a:solidFill>
              <a:srgbClr val="D9DED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14816" y="2862072"/>
            <a:ext cx="1344168" cy="502920"/>
          </a:xfrm>
          <a:prstGeom prst="roundRect">
            <a:avLst>
              <a:gd name="adj" fmla="val 18182"/>
            </a:avLst>
          </a:prstGeom>
          <a:solidFill>
            <a:srgbClr val="E0F0EC"/>
          </a:solidFill>
          <a:ln w="12700">
            <a:solidFill>
              <a:srgbClr val="E0F0E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0264" y="3017520"/>
            <a:ext cx="1024128" cy="54864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70264" y="3182112"/>
            <a:ext cx="758952" cy="54864"/>
          </a:xfrm>
          <a:prstGeom prst="rect">
            <a:avLst/>
          </a:prstGeom>
          <a:solidFill>
            <a:srgbClr val="16877F"/>
          </a:solidFill>
          <a:ln w="12700">
            <a:solidFill>
              <a:srgbClr val="16877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188366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</a:t>
            </a:r>
            <a:endParaRPr lang="en-US" sz="51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263347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E7B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</a:t>
            </a:r>
            <a:endParaRPr lang="en-US" sz="5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7124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D1EA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GrantForge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206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AE3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AI–Powered Grant Proposal Writing System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" y="4901184"/>
            <a:ext cx="5376672" cy="0"/>
          </a:xfrm>
          <a:prstGeom prst="line">
            <a:avLst/>
          </a:prstGeom>
          <a:noFill/>
          <a:ln w="12700">
            <a:solidFill>
              <a:srgbClr val="53687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5166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and suggestions are welcome.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6089904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8B9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Lords Institute of Engineering and Technology  •  CSE (AI &amp; ML)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128248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8B9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1623</Words>
  <Application>Microsoft Office PowerPoint</Application>
  <PresentationFormat>Widescreen</PresentationFormat>
  <Paragraphs>325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Lords Institute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GrantForge — Generative AI-Powered Grant Proposal Writing System</dc:title>
  <dc:subject>Major Project Phase-1 Review-2</dc:subject>
  <dc:creator>GrantForge Project Team</dc:creator>
  <cp:lastModifiedBy>Mohammed Khaja</cp:lastModifiedBy>
  <cp:revision>3</cp:revision>
  <dcterms:created xsi:type="dcterms:W3CDTF">2026-10-28T03:01:54Z</dcterms:created>
  <dcterms:modified xsi:type="dcterms:W3CDTF">2026-10-28T05:15:15Z</dcterms:modified>
</cp:coreProperties>
</file>